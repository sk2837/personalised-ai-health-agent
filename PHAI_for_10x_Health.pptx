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71717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71717"/>
                </a:solidFill>
                <a:latin typeface="Arial"/>
              </a:rPr>
              <a:t>Top 10 features by XGBoost importance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resting_hr_7d_mean</c:v>
                  </c:pt>
                  <c:pt idx="1">
                    <c:v>dow</c:v>
                  </c:pt>
                  <c:pt idx="2">
                    <c:v>steps_7d_mean</c:v>
                  </c:pt>
                  <c:pt idx="3">
                    <c:v>steps_7d_std</c:v>
                  </c:pt>
                  <c:pt idx="4">
                    <c:v>very_active_7d_mean</c:v>
                  </c:pt>
                  <c:pt idx="5">
                    <c:v>stress_score_7d_mean</c:v>
                  </c:pt>
                  <c:pt idx="6">
                    <c:v>very_active_7d_std</c:v>
                  </c:pt>
                  <c:pt idx="7">
                    <c:v>hrv_rmssd_7d_mean</c:v>
                  </c:pt>
                  <c:pt idx="8">
                    <c:v>mood_tired_rate</c:v>
                  </c:pt>
                  <c:pt idx="9">
                    <c:v>stress_score_7d_std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0.074</c:v>
                </c:pt>
                <c:pt idx="1">
                  <c:v>0.068</c:v>
                </c:pt>
                <c:pt idx="2">
                  <c:v>0.068</c:v>
                </c:pt>
                <c:pt idx="3">
                  <c:v>0.066</c:v>
                </c:pt>
                <c:pt idx="4">
                  <c:v>0.062</c:v>
                </c:pt>
                <c:pt idx="5">
                  <c:v>0.061</c:v>
                </c:pt>
                <c:pt idx="6">
                  <c:v>0.058</c:v>
                </c:pt>
                <c:pt idx="7">
                  <c:v>0.057</c:v>
                </c:pt>
                <c:pt idx="8">
                  <c:v>0.056</c:v>
                </c:pt>
                <c:pt idx="9">
                  <c:v>0.055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2525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2525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14400"/>
            <a:ext cx="457200" cy="4572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34440" y="868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AI Health Agent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intelligence layered on the gene + wearable foundation 10x already owns.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BRIEFING  ·  10x HEALTH SYSTEM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CTO  · 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65760" cy="3657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7922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20299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10x customers feel the gap between sessions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365760" cy="3657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2951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5328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PHAI does, with a 5-minute live demo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834640"/>
            <a:ext cx="365760" cy="3657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7980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30358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system, 3-layer data fusion, provider-agnostic LLM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337560"/>
            <a:ext cx="365760" cy="3657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33009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evidence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4440" y="35387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SNP panel, knowledge base, 1000-user cohort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3840480"/>
            <a:ext cx="365760" cy="3657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38039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34440" y="40416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measured rigorously, what we measured by sanity check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4343400"/>
            <a:ext cx="365760" cy="3657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43068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trust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34440" y="45445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guardrails, privacy posture, no-diagnose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4846320"/>
            <a:ext cx="365760" cy="3657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846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34440" y="48097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10x-specific vision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34440" y="5047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to your customer journey + integrations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0080" y="5349240"/>
            <a:ext cx="365760" cy="3657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5349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234440" y="5312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Roadmap, business impact, risks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234440" y="55504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rollout, projected lift, mitigations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PHAI x 10x Health   ·   CTO Briefing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0" y="644652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365760" cy="3657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35204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premium one-time insights and continuous, personalised guidance.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  · 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customer has the data. Where's the daily intelligence?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HAVE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267712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194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Health Test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24414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+ comprehensive bloodwork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907792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834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data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3232" y="30815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biometrics (HR, HRV, sleep, steps, stress)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547872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474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coaching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3232" y="3721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concierge sessions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187952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4114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catalog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3232" y="43616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therapy, HBOT, peptides, cold/sauna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1828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BREAKS DOWN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0" y="2267712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56832" y="2194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lives in silos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56832" y="24414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here, wearable there, lab results in a third place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0" y="2907792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56832" y="2834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are point-in-time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56832" y="30815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review can't catch a bad week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0" y="3547872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56832" y="3474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isn't always there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656832" y="3721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self-navigate between sessions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0" y="4187952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56832" y="4114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Treatments aren't gene-aware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656832" y="43616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protocol regardless of biology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5486400"/>
            <a:ext cx="11247120" cy="685800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54864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opportunity:  </a:t>
            </a:r>
            <a:pPr indent="0" marL="0">
              <a:buNone/>
            </a:pPr>
            <a:r>
              <a:rPr lang="en-US" sz="1400" i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always-on, gene-aware, evidence-grounded layer that lives between coaching sessions.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PHAI x 10x Health   ·   CTO Briefing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 · 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PHAI in one sentence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PHAI is a multi-agent AI health agent that fuses gene mutations, wearable signals, and natural-language sensor narratives into personalised, evidence-grounded plans.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0"/>
            <a:ext cx="37490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3840480"/>
            <a:ext cx="73152" cy="192024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31520" y="4572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4983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between coaching sessions, in the customer's pocket every day.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43400" y="3840480"/>
            <a:ext cx="37490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43400" y="3840480"/>
            <a:ext cx="73152" cy="192024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617720" y="4572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Gene-aware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17720" y="4983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considers the user's specific variants.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0" y="3840480"/>
            <a:ext cx="37490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0" y="3840480"/>
            <a:ext cx="73152" cy="192024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503920" y="4572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Evidence-grounded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503920" y="4983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cites a real source — knowledge base or genotype.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Google Research's 'The Anatomy of a Personal Health Agent' (arXiv 2508.20148).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PHAI x 10x Health   ·   CTO Briefing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0" y="644652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2704" y="1828800"/>
            <a:ext cx="914400" cy="9144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32704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0" y="301752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through PHAI in production form.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566160" y="47548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for a real LifeSnaps user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0" y="50474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66160" y="504748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a new user live in 30 seconds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0" y="53400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66160" y="534009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'Build me a 7-day plan to feel more energetic'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0" y="56327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563270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structured plan with gene + data citations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0" y="59253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66160" y="59253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agent reasoning trace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365760" cy="3657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35204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system, 3-layer data fusion, provider-agnostic LLM.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 · 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question travels through PHAI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1097280" cy="1097280"/>
          </a:xfrm>
          <a:prstGeom prst="ellipse">
            <a:avLst/>
          </a:prstGeom>
          <a:solidFill>
            <a:srgbClr val="DC2626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2918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 rot="5400000">
            <a:off x="1828800" y="3657600"/>
            <a:ext cx="365760" cy="365760"/>
          </a:xfrm>
          <a:prstGeom prst="rtTriangle">
            <a:avLst/>
          </a:prstGeom>
          <a:solidFill>
            <a:srgbClr val="525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3108960"/>
            <a:ext cx="2011680" cy="146304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3246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86000" y="36576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classifier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routing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0" y="1737360"/>
            <a:ext cx="274320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wearables · stats · ML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97680" y="3840480"/>
            <a:ext cx="731520" cy="-1463040"/>
          </a:xfrm>
          <a:prstGeom prst="line">
            <a:avLst/>
          </a:prstGeom>
          <a:noFill/>
          <a:ln w="19050">
            <a:solidFill>
              <a:srgbClr val="52525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0" y="3291840"/>
            <a:ext cx="274320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3520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EXPERT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· KB / RAG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297680" y="3840480"/>
            <a:ext cx="731520" cy="91440"/>
          </a:xfrm>
          <a:prstGeom prst="line">
            <a:avLst/>
          </a:prstGeom>
          <a:noFill/>
          <a:ln w="19050">
            <a:solidFill>
              <a:srgbClr val="52525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0" y="4846320"/>
            <a:ext cx="274320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5074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COACH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0" y="5486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· motivation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297680" y="3840480"/>
            <a:ext cx="731520" cy="1645920"/>
          </a:xfrm>
          <a:prstGeom prst="line">
            <a:avLst/>
          </a:prstGeom>
          <a:noFill/>
          <a:ln w="19050">
            <a:solidFill>
              <a:srgbClr val="5252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0" y="3108960"/>
            <a:ext cx="3017520" cy="1463040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0" y="3246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0" y="36118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panel · 10 SNPs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Wearables · 1000 users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· RAG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72400" y="2377440"/>
            <a:ext cx="914400" cy="1463040"/>
          </a:xfrm>
          <a:prstGeom prst="line">
            <a:avLst/>
          </a:prstGeom>
          <a:noFill/>
          <a:ln w="12700">
            <a:solidFill>
              <a:srgbClr val="E5E5E5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7772400" y="3931920"/>
            <a:ext cx="914400" cy="-91440"/>
          </a:xfrm>
          <a:prstGeom prst="line">
            <a:avLst/>
          </a:prstGeom>
          <a:noFill/>
          <a:ln w="12700">
            <a:solidFill>
              <a:srgbClr val="E5E5E5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7772400" y="5486400"/>
            <a:ext cx="914400" cy="-1645920"/>
          </a:xfrm>
          <a:prstGeom prst="line">
            <a:avLst/>
          </a:prstGeom>
          <a:noFill/>
          <a:ln w="12700">
            <a:solidFill>
              <a:srgbClr val="E5E5E5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45720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· swappable · debuggable. Inspired by Google Research's PHA paper (arXiv 2508.20148).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PHAI x 10x Health   ·   CTO Briefing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72800" y="644652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 · 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specialist sub-agents, each with its own toolset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74904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37360"/>
            <a:ext cx="73152" cy="420624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788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the user's wearable signals.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2461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3529584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474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get_recent_summary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3758184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703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compare_to_population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3986784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9319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compute_correlation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4215384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160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predict_energy_tomorrow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1520" y="49834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OUTPUT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31520" y="52120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average steps are 7,300 (46th percentile); HRV is in your bottom 26%."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43400" y="1737360"/>
            <a:ext cx="374904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43400" y="1737360"/>
            <a:ext cx="73152" cy="420624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4617720" y="2468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EXPERT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17720" y="2788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Grounds findings in biology + evidence.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17720" y="32461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17720" y="3529584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474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get_user_genes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17720" y="3758184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3703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lookup_snp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17720" y="3986784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9319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kb_search (ChromaDB)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617720" y="49834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OUTPUT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617720" y="52120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"As a CYP1A2 AC carrier, finish caffeine before noon (PMID: 24235903)."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229600" y="1737360"/>
            <a:ext cx="374904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229600" y="1737360"/>
            <a:ext cx="73152" cy="420624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0392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8503920" y="2468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COACH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503920" y="2788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structured, actionable plans.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503920" y="32461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503920" y="3529584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86800" y="3474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submit_plan (validates + persists)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503920" y="3758184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86800" y="3703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all read tools above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503920" y="49834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OUTPUT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503920" y="52120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"Goal · Why · 3-5 steps · evidence per step · metrics · check-in."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PHAI x 10x Health   ·   CTO Briefing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972800" y="644652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 · 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Orchestrator: intent routing with 6 paths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56032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120640" y="1828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4712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86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data_question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0" y="2286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only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120640" y="22860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was my sleep?"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11247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697480"/>
            <a:ext cx="54864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788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knowledge_question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0" y="2788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only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120640" y="2788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does CYP1A2 do?"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11247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200400"/>
            <a:ext cx="54864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291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plan_request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60320" y="3291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→ DE → HC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120640" y="32918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"Build me a plan to feel energetic"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3703320"/>
            <a:ext cx="1124712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703320"/>
            <a:ext cx="54864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794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mixed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60320" y="3794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+ DE + synth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120640" y="3794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"Am I tired because of my genes?"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4206240"/>
            <a:ext cx="11247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206240"/>
            <a:ext cx="54864" cy="457200"/>
          </a:xfrm>
          <a:prstGeom prst="rect">
            <a:avLst/>
          </a:prstGeom>
          <a:solidFill>
            <a:srgbClr val="525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297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medical_concern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560320" y="4297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 + redirect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120640" y="4297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have blurred vision"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57200" y="4709160"/>
            <a:ext cx="1124712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4709160"/>
            <a:ext cx="54864" cy="457200"/>
          </a:xfrm>
          <a:prstGeom prst="rect">
            <a:avLst/>
          </a:prstGeom>
          <a:solidFill>
            <a:srgbClr val="525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800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out_of_scope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560320" y="4800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 refusal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12064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me a poem"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57200" y="5486400"/>
            <a:ext cx="11247120" cy="685800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54864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 </a:t>
            </a:r>
            <a:pPr indent="0" marL="0">
              <a:buNone/>
            </a:pPr>
            <a:r>
              <a:rPr lang="en-US" sz="1300" i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explainability. Every chat returns the full agent + tool-call trace, exposed in a 'How I built this answer' panel in the UI.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PHAI x 10x Health   ·   CTO Briefing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972800" y="644652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 · 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Provider-agnostic LLM layer — one env var swaps the brain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7490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075688"/>
            <a:ext cx="256032" cy="25603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011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Llama 3.3 70B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inference, free tier daily-capped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828800"/>
            <a:ext cx="37490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075688"/>
            <a:ext cx="256032" cy="25603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2011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2606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gemini-2.0-flash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17720" y="2926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with 1500 RPD, fallback option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0" y="1828800"/>
            <a:ext cx="37490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03920" y="2075688"/>
            <a:ext cx="256032" cy="25603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0" y="2011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Cerebras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03920" y="2606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gpt-oss-120b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03920" y="2926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in production for the demo (paid)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11247120" cy="1463040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931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 →  one line change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4251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LLM_PROVIDER</a:t>
            </a:r>
            <a:pPr indent="0" marL="0">
              <a:buNone/>
            </a:pPr>
            <a:r>
              <a:rPr lang="en-US" sz="140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cerebras</a:t>
            </a:r>
            <a:pPr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# or groq | gemini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4617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LLM_MODEL</a:t>
            </a:r>
            <a:pPr indent="0" marL="0">
              <a:buNone/>
            </a:pPr>
            <a:r>
              <a:rPr lang="en-US" sz="1400" dirty="0">
                <a:solidFill>
                  <a:srgbClr val="D4D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gpt-oss-120b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5577840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55138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independence — never locked to one provider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5779008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57150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flexibility — switch tier or model per query type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5980176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59161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path — local Ollama for fully on-device inference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7200" y="6181344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6117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resilience — failover when one provider rate-limits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PHAI x 10x Health   ·   CTO Briefing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972800" y="644652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365760" cy="3657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EVIDENCE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35204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 fused at the agent boundary, all anchored to real public data.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EVIDENCE  · 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data layers, fused at the agent boundary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12471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83080"/>
            <a:ext cx="7315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554480" y="19476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LAYER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5448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SNPs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29200" y="20116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· PER3 · ADRB2 · ACTN3 · CYP1A2 · MTHFR · FTO · APOE · COMT · BDNF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2560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Lifestyle-relevant, not diagnostic. Sampled under HWE from gnomAD frequencies.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112471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246120"/>
            <a:ext cx="7315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554480" y="34107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LAYER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554480" y="3703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~106k user-days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029200" y="3474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· sleep · HR · HRV · stress · mood self-reports · ~25 metrics per day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40233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 real LifeSnaps users + 929 synthetic-extension via stratified resampling.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709160"/>
            <a:ext cx="112471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4709160"/>
            <a:ext cx="7315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4892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1554480" y="48737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NARRATIVE LAYER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54480" y="5166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~88k narratives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029200" y="4937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"Recovery looks low — HRV in your bottom decile. You logged feeling tired."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0" y="5486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generator on every user-day. Deterministic, auditable, free at scale.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happens at the agent layer — each agent reads from whichever layer it needs, no monolithic blob.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PHAI x 10x Health   ·   CTO Briefing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0" y="644652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EVIDENCE  · 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SNP panel — 10 lifestyle-relevant variants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68580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554480"/>
                <a:gridCol w="38404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INFLUENCES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rs1801260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Chronotype, sleep timing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rs228697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Circadian phase preference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ADRB2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rs1042713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Exercise / asthma / beta-2 response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ACTN3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rs1815739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vs endurance muscle bias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CYP1A2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rs762551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Caffeine metabolism speed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MTHFR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rs1801133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Folate / methylation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rs9939609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Appetite / BMI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rs429358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Lipid metabolism / cognition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rs4680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Dopamine, stress response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BDNF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rs6265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Neuroplasticity, exercise benefit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589520" y="1828800"/>
            <a:ext cx="411480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589520" y="1828800"/>
            <a:ext cx="73152" cy="411480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18120" y="19659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PANEL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818120" y="2377440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46720" y="231343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Lifestyle-relevant, not diagnostic — no disease prediction.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818120" y="2971800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0" y="290779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SNP has &gt; 100 published lifestyle-association studies.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818120" y="3566160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46720" y="350215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Genotypes sampled under Hardy-Weinberg from gnomAD frequencies.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818120" y="4160520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46720" y="409651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observed cohort distribution matches HWE (see Eval tab).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818120" y="4754880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46720" y="469087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disclosure: the per-user assignment is generated, not from real OpenSNP records.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PHAI x 10x Health   ·   CTO Briefing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972800" y="644652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EVIDENCE  · 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— 55 curated, evidence-tagged snippets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7432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8745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Snippets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828800"/>
            <a:ext cx="27432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8745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91840" y="2606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SNP cards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828800"/>
            <a:ext cx="27432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8745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126480" y="2606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recs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1828800"/>
            <a:ext cx="27432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61120" y="18745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961120" y="2606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PubMed citations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3832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758184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703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duration · regularity · environment · pre-bed routine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3758184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3703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Magnesium · folate · omega-3 · polyphenols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050792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99592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Caffeine timing · CYP1A2-aware dosing · performance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4050792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39959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 microbiome · fermented foods · time-restricted eating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343400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28853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daylight · circadian alignment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0" y="4343400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428853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HRV-guided training · recovery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63600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58114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Endurance Zone 2 · HIIT · VO2 max for longevity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0" y="463600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45811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exposure · sauna · breathwork · box breathing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928616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8737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training · weight-bearing for bone health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0" y="4928616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0" y="48737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Mindfulness · gratitude journaling · social connection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5221224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51663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Yoga, mobility, posture, ergonomics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00800" y="5221224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0" y="5166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Hydration timing (sleep + exercise)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ChromaDB + sentence-transformers (all-MiniLM-L6-v2). Local, free, ~80MB embedding model. Distance metric on demo queries: 0.4–1.0.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PHAI x 10x Health   ·   CTO Briefing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72800" y="644652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EVIDENCE  · 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foundation, with honest disclosure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12471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28800"/>
            <a:ext cx="73152" cy="868680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BACKBONE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212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LifeSnaps — 71 real Fitbit users, 4 months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468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Yfantidou et al., 2022. Free, open, Zenodo.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332720" y="2121408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32720" y="21214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112471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788920"/>
            <a:ext cx="73152" cy="868680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926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FREQUENCIES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31729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gnomAD / 1000 Genomes / dbSNP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3429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population allele frequencies for the 10 panel SNPs.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332720" y="3081528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32720" y="308152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112471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749040"/>
            <a:ext cx="73152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886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EXTENSION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4133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users via stratified resampling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43891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929 synthetic users built by perturbing real LifeSnaps trajectories with controlled noise.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332720" y="4041648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32720" y="404164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709160"/>
            <a:ext cx="112471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4709160"/>
            <a:ext cx="73152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4846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GENOTYPES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77240" y="50932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HWE sampling against published frequencies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77240" y="5349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user's genotype is generated, not copied from a real OpenSNP record.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0332720" y="5001768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332720" y="50017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5806440"/>
            <a:ext cx="11247120" cy="594360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58064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 built into the UI:  </a:t>
            </a:r>
            <a:pPr indent="0" marL="0">
              <a:buNone/>
            </a:pPr>
            <a:r>
              <a:rPr lang="en-US" sz="1200" i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users carry a 'synthetic' flag in the sidebar; the data origin paragraph appears at the top of the Genes tab.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PHAI x 10x Health   ·   CTO Briefing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72800" y="644652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365760" cy="3657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35204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categories measured. Honest gaps named.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 · 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measured — 6 categories of real metrics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5321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83080"/>
            <a:ext cx="7315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011680"/>
            <a:ext cx="502920" cy="502920"/>
          </a:xfrm>
          <a:prstGeom prst="ellipse">
            <a:avLst/>
          </a:prstGeom>
          <a:solidFill>
            <a:srgbClr val="0A0A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9476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classifier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AUC + features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2606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XGBoost, per-user time-based 70/30 split (no leakage)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1783080"/>
            <a:ext cx="55321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1783080"/>
            <a:ext cx="7315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6520" y="2011680"/>
            <a:ext cx="502920" cy="502920"/>
          </a:xfrm>
          <a:prstGeom prst="ellipse">
            <a:avLst/>
          </a:prstGeom>
          <a:solidFill>
            <a:srgbClr val="0A0A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86600" y="19476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validation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86600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vs synthetic averages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86600" y="2606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averages within ~5% of real — no systematic bias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246120"/>
            <a:ext cx="55321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246120"/>
            <a:ext cx="7315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3474720"/>
            <a:ext cx="502920" cy="502920"/>
          </a:xfrm>
          <a:prstGeom prst="ellipse">
            <a:avLst/>
          </a:prstGeom>
          <a:solidFill>
            <a:srgbClr val="0A0A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34107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Hardy-Weinberg distribution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3749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vs expected genotype 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71600" y="4069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Per-SNP distribution matches HWE prediction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72200" y="3246120"/>
            <a:ext cx="55321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72200" y="3246120"/>
            <a:ext cx="7315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46520" y="3474720"/>
            <a:ext cx="502920" cy="502920"/>
          </a:xfrm>
          <a:prstGeom prst="ellipse">
            <a:avLst/>
          </a:prstGeom>
          <a:solidFill>
            <a:srgbClr val="0A0A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086600" y="34107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retrieval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086600" y="3749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distance on smoke queries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086600" y="4069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distance &lt; 1.0 on all 7 demo queries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4709160"/>
            <a:ext cx="55321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" y="4709160"/>
            <a:ext cx="7315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1520" y="4937760"/>
            <a:ext cx="502920" cy="502920"/>
          </a:xfrm>
          <a:prstGeom prst="ellipse">
            <a:avLst/>
          </a:prstGeom>
          <a:solidFill>
            <a:srgbClr val="0A0A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371600" y="48737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narrative coverage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371600" y="5212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typical-day fallback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371600" y="5532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~34% — calibration target hit (30–50% is healthy)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172200" y="4709160"/>
            <a:ext cx="55321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72200" y="4709160"/>
            <a:ext cx="73152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46520" y="4937760"/>
            <a:ext cx="502920" cy="502920"/>
          </a:xfrm>
          <a:prstGeom prst="ellipse">
            <a:avLst/>
          </a:prstGeom>
          <a:solidFill>
            <a:srgbClr val="0A0A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4652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086600" y="48737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grounding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086600" y="5212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cited URLs in our KB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086600" y="5532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on gpt-oss-120b — no hallucinated citations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PHAI x 10x Health   ·   CTO Briefing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972800" y="644652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 · 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classifier — XGBoost on the 1,000-user cohort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7432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828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783080"/>
            <a:ext cx="27432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828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91840" y="2560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AUC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783080"/>
            <a:ext cx="27432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828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985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126480" y="2560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users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1783080"/>
            <a:ext cx="27432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61120" y="1828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62k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961120" y="2560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examples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548640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200400"/>
            <a:ext cx="73152" cy="283464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337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3657600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5935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tomorrow's step count &gt; user's personal median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85800" y="3986784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392277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rolling 7-day means + std + trends (~22 features)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431596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2519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XGBoost, max_depth=4, n_estimators=300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85800" y="4645152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458114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 per-user time-based 70/30 (no future leakage)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85800" y="4974336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49103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Reg: L1 + L2, early stopping on test set</a:t>
            </a:r>
            <a:endParaRPr lang="en-US" sz="115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6126480" y="3200400"/>
          <a:ext cx="566928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1" name="Shape 28"/>
          <p:cNvSpPr/>
          <p:nvPr/>
        </p:nvSpPr>
        <p:spPr>
          <a:xfrm>
            <a:off x="457200" y="6126480"/>
            <a:ext cx="11247120" cy="292608"/>
          </a:xfrm>
          <a:prstGeom prst="rect">
            <a:avLst/>
          </a:pr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0080" y="6126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framing:  next-day prediction from sparse wearables is a known hard problem. AUC 0.56 is a baseline that ships; v2 adds longer windows + per-user fine-tuning.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PHAI x 10x Health   ·   CTO Briefing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0972800" y="644652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 · 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grounding — the canonical hallucination check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3657600" cy="36576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4688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914400" y="3931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in our KB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251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 gpt-oss-120b)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0" y="2011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0" y="2423160"/>
            <a:ext cx="274320" cy="274320"/>
          </a:xfrm>
          <a:prstGeom prst="ellipse">
            <a:avLst/>
          </a:prstGeom>
          <a:solidFill>
            <a:srgbClr val="0A0A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40680" y="2377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saved plan, scan all step.evidence URLs.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0" y="2880360"/>
            <a:ext cx="274320" cy="274320"/>
          </a:xfrm>
          <a:prstGeom prst="ellipse">
            <a:avLst/>
          </a:prstGeom>
          <a:solidFill>
            <a:srgbClr val="0A0A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40680" y="2834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each URL against our KB's URL set + SNP catalogue.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0" y="3337560"/>
            <a:ext cx="274320" cy="274320"/>
          </a:xfrm>
          <a:prstGeom prst="ellipse">
            <a:avLst/>
          </a:prstGeom>
          <a:solidFill>
            <a:srgbClr val="0A0A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40680" y="3291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% grounding rate per model, per release.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0" y="3794760"/>
            <a:ext cx="274320" cy="274320"/>
          </a:xfrm>
          <a:prstGeom prst="ellipse">
            <a:avLst/>
          </a:prstGeom>
          <a:solidFill>
            <a:srgbClr val="0A0A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40680" y="3749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every new plan automatically; surfaced in Eval tab.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29200" y="43891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gpt-oss-120b (Cerebras)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058400" y="4736592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0" y="47365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5120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llama3.1-8b (Cerebras)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058400" y="5102352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0" y="51023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~30-60%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0" y="5486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/ quantised models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058400" y="5468112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58400" y="54681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080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metric most candidates skip and every health-AI interviewer asks about.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PHAI x 10x Health   ·   CTO Briefing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 · 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gaps — what we'd add for production-grade evaluation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274320" cy="2743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Plan-quality LLM-as-judge rubric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40680" y="182880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every plan on specificity, evidence-grounding, gene-aware reasoning. Track over model versions.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274320" cy="2743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23317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Claim-level hallucination check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40680" y="233172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URL grounding: extract every factual claim, verify against KB and user's actual data.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274320" cy="2743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28346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quality (precision@k, MRR, NDCG)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40680" y="283464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the retrieval layer with relevance-labeled ground truth — which snippets *should* surface for which queries.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274320" cy="2743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33375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 efficiency tracking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40680" y="333756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tool calls per intent, % redundant calls, per-agent token cost. Useful for cost + latency.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886200"/>
            <a:ext cx="274320" cy="2743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886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68680" y="38404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latency p50/p95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40680" y="384048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Per-intent response time distributions. Surface where users wait.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389120"/>
            <a:ext cx="274320" cy="2743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389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" y="43434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classifier accuracy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40680" y="434340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labeled set, confusion matrix. Today this is eyeball-only.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892040"/>
            <a:ext cx="274320" cy="2743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892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68680" y="48463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 across models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40680" y="484632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query → llama-8b vs gpt-oss-120b vs qwen-235b, expert-graded blind.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5394960"/>
            <a:ext cx="274320" cy="2743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5394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68680" y="53492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evaluation cohort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40680" y="534924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Google PHA's 7,000+ annotation methodology — real users, real clinicians, real rubrics.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standard: Google PHA paper used 10 benchmark tasks, 7,000+ annotations, 1,100+ hours of expert + end-user effort.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PHAI x 10x Health   ·   CTO Briefing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72800" y="644652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365760" cy="3657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TRUST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35204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guardrails, no-diagnose discipline, privacy by architecture.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TRUST  · 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safety guardrails — refuse-by-default for medical concerns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12471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28800"/>
            <a:ext cx="73152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20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· INTENT CLASSIFIER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routes; refuses out_of_scope queries (math, weather, etc.) immediately.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0" y="199339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"factorial of 5" → out_of_scope, refuses with redirect.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679192"/>
            <a:ext cx="112471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679192"/>
            <a:ext cx="73152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770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· MEDICAL_CONCERN INTENT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29992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Symptoms, diagnoses, or medication queries route to a 'see a clinician' response. NO agent fires.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0" y="284378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 have blurred vision" → refusal + clinician recommendation.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529584"/>
            <a:ext cx="112471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529584"/>
            <a:ext cx="73152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6210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· AGENT-PROMPT DISCIPLINE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384962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agent's system prompt explicitly prohibits diagnosis, prescription, or supplement dosing.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0" y="369417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HC: "You do NOT diagnose, prescribe, or recommend doses."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4379976"/>
            <a:ext cx="112471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4379976"/>
            <a:ext cx="73152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4714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· PLAN VALIDATOR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470001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submit_plan() validates structure, truncates over-long plans, parses LLM-stringified JSON safely.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0" y="454456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Defense in depth: even if an agent tries to push bad output, the validator catches it.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5230368"/>
            <a:ext cx="112471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5230368"/>
            <a:ext cx="73152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321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 · CITATION GROUNDING (post-hoc)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" y="555040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URL in a plan is checked against the KB. Hallucinated URLs surface in the Eval tab metric.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86800" y="53949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25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Currently 100% on gpt-oss-120b; surfaces lower numbers on smaller models.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PHAI x 10x Health   ·   CTO Briefing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72800" y="644652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TRUST  · 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architecture, not by promise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12471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28800"/>
            <a:ext cx="73152" cy="128016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659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is a stateless reasoning function. We never train or fine-tune on user data.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call assembles only the data that question needs (via tool calls), the model reasons over it, and forgets. Memory is the application's job, not the model's.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456432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33832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is a UUID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" y="3657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PII over the wire. Provider sees only a hash-like token.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3456432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56832" y="3383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56832" y="3657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call + result logged in the trace, surfaced in the chat UI.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325112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42519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storage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3232" y="4526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phai.db (SQLite) and chroma_db/ live on the user's machine.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4325112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56832" y="4251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path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56832" y="4526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to Ollama (local Llama) for 100% on-device inference. One env var.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5193792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5120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opt-out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3232" y="5394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Cerebras/Groq paid tiers don't train on customer data; OpenAI offers BAA on enterprise.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5193792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56832" y="5120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Refusal of PHI prompts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56832" y="5394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Medical_concern intent prevents the system from collecting symptoms it shouldn't act on.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PHAI x 10x Health   ·   CTO Briefing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0" y="644652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32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365760" cy="3657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FOR 10x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35204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PHAI plugs into 10x's customer journey, coaching model, and product catalog.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FOR 10X  ·  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PHAI in the 10x customer journey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78892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28800"/>
            <a:ext cx="73152" cy="411480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85800" y="31089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the lab/genetic report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402336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gets 10x Health Test results → PHAI explains in plain English, generates the first plan within minutes.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1828800"/>
            <a:ext cx="278892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828800"/>
            <a:ext cx="73152" cy="411480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1188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611880" y="31089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between sessions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11880" y="402336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signals + journal entries + gene-aware nudges. Customer asks anything, gets a grounded answer.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1828800"/>
            <a:ext cx="278892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1828800"/>
            <a:ext cx="73152" cy="411480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PRE-COACHING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53796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537960" y="31089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the human coach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37960" y="402336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weekly summary: what changed, what worked, what didn't. Coach walks in prepared.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235440" y="1828800"/>
            <a:ext cx="278892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235440" y="1828800"/>
            <a:ext cx="73152" cy="411480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6404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POST-COACHING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6404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9464040" y="31089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sessions into action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464040" y="402336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+ customer agree on next steps; PHAI sets daily check-ins and tracks adherence to the plan.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continuous, gene-aware engagement that converts one-time premium spend into ongoing daily value.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PHAI x 10x Health   ·   CTO Briefing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72800" y="644652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32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FOR 10X  ·  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10x-specific integrations roadmap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12471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28800"/>
            <a:ext cx="73152" cy="105156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1-3 months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Health Test integration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0" y="198424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08192" y="1920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10x's bloodwork panel into the KB as a structured snippet set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0" y="2276856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08192" y="22128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SNP panel to 10x's genetic test (probably 30-50 SNPs)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0" y="2569464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08192" y="25054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10x's methylation-pathway focus into the Domain Expert agent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112471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971800"/>
            <a:ext cx="73152" cy="105156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3-6 months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3291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catalog integration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0" y="312724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08192" y="3063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IV therapy / HBOT / peptide protocols into the KB with eligibility rules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43600" y="3419856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08192" y="33558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'protocol_recommendation' tool to Health Coach (with clinician approval gate)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43600" y="3712464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08192" y="36484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into 10x's booking system: PHAI surfaces relevant protocols, customer books with one tap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114800"/>
            <a:ext cx="112471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114800"/>
            <a:ext cx="73152" cy="105156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6-12 months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" y="4434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console + closed-loop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943600" y="427024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08192" y="4206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Coach-facing dashboard: see PHAI's plans, approve/edit before they reach the customer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943600" y="4562856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08192" y="44988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Adherence tracking → plan adaptation: PHAI learns what worked for this customer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943600" y="4855464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08192" y="47914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Closed-loop: outcomes (lab-recheck improvements, wearable trends) feed back into plan-quality scoring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" y="5257800"/>
            <a:ext cx="112471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" y="5257800"/>
            <a:ext cx="73152" cy="105156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5349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12+ months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77240" y="5577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evidence + regulatory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943600" y="541324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08192" y="5349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peer-reviewed evaluation cohort (~500 users, 6 months)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943600" y="5705856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08192" y="56418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results matching Google PHA's evaluation methodology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943600" y="5998464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08192" y="59344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FDA Software-as-Medical-Device pre-submission conversations if appropriate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PHAI x 10x Health   ·   CTO Briefing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972800" y="644652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32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FOR 10X  ·  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augmentation, not replacement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486400" cy="4206240"/>
          </a:xfrm>
          <a:prstGeom prst="rect">
            <a:avLst/>
          </a:prstGeom>
          <a:solidFill>
            <a:srgbClr val="FAFAFA"/>
          </a:solidFill>
          <a:ln w="9525">
            <a:solidFill>
              <a:srgbClr val="D4D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PHAI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coach ≈ 30 customers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2990088"/>
            <a:ext cx="91440" cy="91440"/>
          </a:xfrm>
          <a:prstGeom prst="ellipse">
            <a:avLst/>
          </a:prstGeom>
          <a:solidFill>
            <a:srgbClr val="525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26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manually reviews each customer's data every session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310128"/>
            <a:ext cx="91440" cy="91440"/>
          </a:xfrm>
          <a:prstGeom prst="ellipse">
            <a:avLst/>
          </a:prstGeom>
          <a:solidFill>
            <a:srgbClr val="525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246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is on their own between sessions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630168"/>
            <a:ext cx="91440" cy="91440"/>
          </a:xfrm>
          <a:prstGeom prst="ellipse">
            <a:avLst/>
          </a:prstGeom>
          <a:solidFill>
            <a:srgbClr val="525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5661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questions consume coaching time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950208"/>
            <a:ext cx="91440" cy="91440"/>
          </a:xfrm>
          <a:prstGeom prst="ellipse">
            <a:avLst/>
          </a:prstGeom>
          <a:solidFill>
            <a:srgbClr val="525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86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prep before each session takes 30+ minutes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270248"/>
            <a:ext cx="91440" cy="91440"/>
          </a:xfrm>
          <a:prstGeom prst="ellipse">
            <a:avLst/>
          </a:prstGeom>
          <a:solidFill>
            <a:srgbClr val="525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206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are static between checkpoints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1828800"/>
            <a:ext cx="5486400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46520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PHAI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46520" y="2286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coach ≈ 100-150 customers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446520" y="2971800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2926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PHAI prepares a weekly summary, coach reviews in 5 min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46520" y="3291840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3246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gets immediate, gene-aware answers between sessions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46520" y="3611880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35661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Qs handled by PHAI; coach does what only humans can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46520" y="3931920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3886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Pre-session brief auto-generated; coach starts each call ready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46520" y="4251960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4206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plan adjustments based on adherence + new wearable data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+ scale, not displacement. Coaches become more valuable, not less.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PHAI x 10x Health   ·   CTO Briefing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972800" y="644652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32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FOR 10X  ·  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business impact (illustrative, not pilot data)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7432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9202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3-5x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throughput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Per-coach customer load up from ~30 to ~100-150.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828800"/>
            <a:ext cx="27432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9202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+20-30%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291840" y="2880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LTV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32918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engagement reduces 6-month churn by an estimated 25%.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1828800"/>
            <a:ext cx="27432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19202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-40%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126480" y="2880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prep time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32918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weekly briefs replace manual data review.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961120" y="1828800"/>
            <a:ext cx="27432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961120" y="19202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+15-25%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8961120" y="2880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attach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0" y="32918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Gene-aware protocol surfacing increases catalog conversion.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297680"/>
            <a:ext cx="1124712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297680"/>
            <a:ext cx="73152" cy="15544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DIFFERENTIATOR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4709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true AI-augmented premium health platform.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77240" y="5074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10x's competitors talk about 'AI-powered insights' as marketing copy. Adding PHAI puts a real, gene-aware, evidence-grounded multi-agent system in customers' hands. That's a moat — and it's defensible because it's built on 10x's existing data assets.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numbers above are illustrative ranges to anchor discussion — not pilot data. Real numbers come from Phase 2 internal pilot.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PHAI x 10x Health   ·   CTO Briefing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0" y="644652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32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 · 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rollout — internal pilot to general availability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640080" cy="6400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2468880"/>
            <a:ext cx="0" cy="45720"/>
          </a:xfrm>
          <a:prstGeom prst="line">
            <a:avLst/>
          </a:prstGeom>
          <a:noFill/>
          <a:ln w="19050">
            <a:solidFill>
              <a:srgbClr val="E5E5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8470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KB + bloodwork integration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371600" y="21031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SNP panel and KB to cover 10x's test catalog. Internal team validation. ~2 engineers.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432304"/>
            <a:ext cx="640080" cy="6400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323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3072384"/>
            <a:ext cx="0" cy="45720"/>
          </a:xfrm>
          <a:prstGeom prst="line">
            <a:avLst/>
          </a:prstGeom>
          <a:noFill/>
          <a:ln w="1905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24505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pilot (50-100 users)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371600" y="270662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staff + invited clients. Daily usage. Collect plan-quality feedback + adherence signals. Iterate prompts.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035808"/>
            <a:ext cx="640080" cy="6400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358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7240" y="3675888"/>
            <a:ext cx="0" cy="45720"/>
          </a:xfrm>
          <a:prstGeom prst="line">
            <a:avLst/>
          </a:prstGeom>
          <a:noFill/>
          <a:ln w="19050">
            <a:solidFill>
              <a:srgbClr val="E5E5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30540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console v1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371600" y="331012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Coach-facing approval workflow. Coaches review every PHAI plan before it ships. Trust-by-design.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639312"/>
            <a:ext cx="640080" cy="6400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6393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77240" y="4279392"/>
            <a:ext cx="0" cy="45720"/>
          </a:xfrm>
          <a:prstGeom prst="line">
            <a:avLst/>
          </a:prstGeom>
          <a:noFill/>
          <a:ln w="19050">
            <a:solidFill>
              <a:srgbClr val="E5E5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0" y="3657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GA (10% of subscribers)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371600" y="391363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to 10% of subscriber base with coach gating. Daily metrics dashboard for ops team.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242816"/>
            <a:ext cx="640080" cy="6400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2428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77240" y="4882896"/>
            <a:ext cx="0" cy="45720"/>
          </a:xfrm>
          <a:prstGeom prst="line">
            <a:avLst/>
          </a:prstGeom>
          <a:noFill/>
          <a:ln w="19050">
            <a:solidFill>
              <a:srgbClr val="E5E5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71600" y="42611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Adherence + plan-adaptation loop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371600" y="451713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which plan steps customers actually follow; PHAI re-grounds the next plan in what worked vs. what didn't.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846320"/>
            <a:ext cx="640080" cy="6400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846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77240" y="5486400"/>
            <a:ext cx="0" cy="45720"/>
          </a:xfrm>
          <a:prstGeom prst="line">
            <a:avLst/>
          </a:prstGeom>
          <a:noFill/>
          <a:ln w="19050">
            <a:solidFill>
              <a:srgbClr val="E5E5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71600" y="48646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GA + evaluation framework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371600" y="51206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subscribers. Plan-quality rubric live. URL grounding tracked per plan. SLA: &lt; 5s for non-plan responses.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" y="5449824"/>
            <a:ext cx="640080" cy="6400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54498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371600" y="54681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study + regulatory prep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371600" y="572414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longitudinal cohort with lab rechecks. Regulatory pre-sub conversations begin.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PHAI x 10x Health   ·   CTO Briefing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72800" y="644652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32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 · 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risks and mitigations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12471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28800"/>
            <a:ext cx="73152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74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/ invented citations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18745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evidence grounding (URL check post-hoc, agent prompt discipline, plan validator). Already 100% on gpt-oss-120b.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450592"/>
            <a:ext cx="112471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450592"/>
            <a:ext cx="73152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4963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Liability for medical advice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249631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no-diagnose / no-prescribe in agent prompts. medical_concern intent refuses + redirects. Plans go through coach approval gate.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072384"/>
            <a:ext cx="112471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072384"/>
            <a:ext cx="73152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11810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/ data sovereignty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3118104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storage; user_id is UUID; provider opt-out for training; self-hosted Ollama path; BAA-eligible providers (paid tiers).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694176"/>
            <a:ext cx="112471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694176"/>
            <a:ext cx="73152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73989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cost at scale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3739896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Provider-agnostic with intent-based routing — cheap models for classification, premium for plans. Caching common queries.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315968"/>
            <a:ext cx="112471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315968"/>
            <a:ext cx="73152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3616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pushback / change management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436168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console gives oversight, not displacement. Phase 3 is built around coach approval workflow.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937760"/>
            <a:ext cx="112471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937760"/>
            <a:ext cx="73152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9834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drift across model versions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0" y="49834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Plan-quality rubric + URL grounding tracked per release. CI gate on regression in Eval tab metrics.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5559552"/>
            <a:ext cx="112471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5559552"/>
            <a:ext cx="73152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56052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exposure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0" y="560527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as wellness tool, not medical device. Phase 4 includes pre-sub conversations if scope expands toward SaMD.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PHAI x 10x Health   ·   CTO Briefing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32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2704" y="1828800"/>
            <a:ext cx="914400" cy="9144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32704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0" y="301752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would you start?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the time.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PHAI  ·  Personalised AI Health Agent  ·  CTO Briefing  ·  May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PHAI for 10x Health</dc:title>
  <dc:subject>PptxGenJS Presentation</dc:subject>
  <dc:creator>PHAI Team</dc:creator>
  <cp:lastModifiedBy>PHAI Team</cp:lastModifiedBy>
  <cp:revision>1</cp:revision>
  <dcterms:created xsi:type="dcterms:W3CDTF">2026-05-03T02:18:30Z</dcterms:created>
  <dcterms:modified xsi:type="dcterms:W3CDTF">2026-05-03T02:18:30Z</dcterms:modified>
</cp:coreProperties>
</file>